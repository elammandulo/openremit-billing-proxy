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itillium Web Bold" charset="1" panose="00000800000000000000"/>
      <p:regular r:id="rId18"/>
    </p:embeddedFont>
    <p:embeddedFont>
      <p:font typeface="Titillium Web" charset="1" panose="00000500000000000000"/>
      <p:regular r:id="rId19"/>
    </p:embeddedFont>
    <p:embeddedFont>
      <p:font typeface="Arial Bold" charset="1" panose="020B0704020202020204"/>
      <p:regular r:id="rId21"/>
    </p:embeddedFont>
    <p:embeddedFont>
      <p:font typeface="Titillium Web Semi-Bold" charset="1" panose="00000700000000000000"/>
      <p:regular r:id="rId24"/>
    </p:embeddedFont>
    <p:embeddedFont>
      <p:font typeface="Libre Franklin Bold" charset="1" panose="00000000000000000000"/>
      <p:regular r:id="rId29"/>
    </p:embeddedFont>
    <p:embeddedFont>
      <p:font typeface="Libre Franklin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4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4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996" y="650767"/>
            <a:ext cx="3965153" cy="967797"/>
            <a:chOff x="0" y="0"/>
            <a:chExt cx="5286870" cy="12903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86883" cy="1290447"/>
            </a:xfrm>
            <a:custGeom>
              <a:avLst/>
              <a:gdLst/>
              <a:ahLst/>
              <a:cxnLst/>
              <a:rect r="r" b="b" t="t" l="l"/>
              <a:pathLst>
                <a:path h="1290447" w="5286883">
                  <a:moveTo>
                    <a:pt x="0" y="0"/>
                  </a:moveTo>
                  <a:lnTo>
                    <a:pt x="5286883" y="0"/>
                  </a:lnTo>
                  <a:lnTo>
                    <a:pt x="5286883" y="1290447"/>
                  </a:lnTo>
                  <a:lnTo>
                    <a:pt x="0" y="12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36448" y="1384002"/>
            <a:ext cx="7519045" cy="7519045"/>
            <a:chOff x="0" y="0"/>
            <a:chExt cx="10025393" cy="100253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25380" cy="10025380"/>
            </a:xfrm>
            <a:custGeom>
              <a:avLst/>
              <a:gdLst/>
              <a:ahLst/>
              <a:cxnLst/>
              <a:rect r="r" b="b" t="t" l="l"/>
              <a:pathLst>
                <a:path h="10025380" w="10025380">
                  <a:moveTo>
                    <a:pt x="0" y="0"/>
                  </a:moveTo>
                  <a:lnTo>
                    <a:pt x="10025380" y="0"/>
                  </a:lnTo>
                  <a:lnTo>
                    <a:pt x="10025380" y="10025380"/>
                  </a:lnTo>
                  <a:lnTo>
                    <a:pt x="0" y="10025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40551" y="5113649"/>
            <a:ext cx="2926204" cy="439198"/>
            <a:chOff x="0" y="0"/>
            <a:chExt cx="3901605" cy="585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567" cy="585597"/>
            </a:xfrm>
            <a:custGeom>
              <a:avLst/>
              <a:gdLst/>
              <a:ahLst/>
              <a:cxnLst/>
              <a:rect r="r" b="b" t="t" l="l"/>
              <a:pathLst>
                <a:path h="585597" w="3901567">
                  <a:moveTo>
                    <a:pt x="0" y="0"/>
                  </a:moveTo>
                  <a:lnTo>
                    <a:pt x="3901567" y="0"/>
                  </a:lnTo>
                  <a:lnTo>
                    <a:pt x="3901567" y="585597"/>
                  </a:lnTo>
                  <a:lnTo>
                    <a:pt x="0" y="585597"/>
                  </a:lnTo>
                  <a:close/>
                </a:path>
              </a:pathLst>
            </a:custGeom>
            <a:solidFill>
              <a:srgbClr val="0F04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901605" cy="576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E69138"/>
                  </a:solidFill>
                  <a:latin typeface="Titillium Web Bold"/>
                  <a:ea typeface="Titillium Web Bold"/>
                  <a:cs typeface="Titillium Web Bold"/>
                  <a:sym typeface="Titillium Web Bold"/>
                </a:rPr>
                <a:t>OPEN PAYMENTS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9789" y="3529565"/>
            <a:ext cx="7633954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EEFF41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MicroPay</a:t>
            </a:r>
          </a:p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Hackathon 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448300" y="760952"/>
            <a:ext cx="3567074" cy="859536"/>
            <a:chOff x="0" y="0"/>
            <a:chExt cx="4756099" cy="11460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6150" cy="1146048"/>
            </a:xfrm>
            <a:custGeom>
              <a:avLst/>
              <a:gdLst/>
              <a:ahLst/>
              <a:cxnLst/>
              <a:rect r="r" b="b" t="t" l="l"/>
              <a:pathLst>
                <a:path h="1146048" w="4756150">
                  <a:moveTo>
                    <a:pt x="0" y="0"/>
                  </a:moveTo>
                  <a:lnTo>
                    <a:pt x="4756150" y="0"/>
                  </a:lnTo>
                  <a:lnTo>
                    <a:pt x="4756150" y="1146048"/>
                  </a:lnTo>
                  <a:lnTo>
                    <a:pt x="0" y="1146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0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4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65454" y="377752"/>
            <a:ext cx="2812656" cy="686505"/>
            <a:chOff x="0" y="0"/>
            <a:chExt cx="3750208" cy="915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0183" cy="915289"/>
            </a:xfrm>
            <a:custGeom>
              <a:avLst/>
              <a:gdLst/>
              <a:ahLst/>
              <a:cxnLst/>
              <a:rect r="r" b="b" t="t" l="l"/>
              <a:pathLst>
                <a:path h="915289" w="3750183">
                  <a:moveTo>
                    <a:pt x="0" y="0"/>
                  </a:moveTo>
                  <a:lnTo>
                    <a:pt x="3750183" y="0"/>
                  </a:lnTo>
                  <a:lnTo>
                    <a:pt x="3750183" y="915289"/>
                  </a:lnTo>
                  <a:lnTo>
                    <a:pt x="0" y="915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21383"/>
            <a:ext cx="18288000" cy="706203"/>
            <a:chOff x="0" y="0"/>
            <a:chExt cx="24384000" cy="941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41578"/>
            </a:xfrm>
            <a:custGeom>
              <a:avLst/>
              <a:gdLst/>
              <a:ahLst/>
              <a:cxnLst/>
              <a:rect r="r" b="b" t="t" l="l"/>
              <a:pathLst>
                <a:path h="9415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41578"/>
                  </a:lnTo>
                  <a:lnTo>
                    <a:pt x="0" y="941578"/>
                  </a:lnTo>
                  <a:close/>
                </a:path>
              </a:pathLst>
            </a:custGeom>
            <a:solidFill>
              <a:srgbClr val="EEFF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42716" y="9774879"/>
            <a:ext cx="6472799" cy="409204"/>
            <a:chOff x="0" y="0"/>
            <a:chExt cx="8630399" cy="5456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0400" cy="545600"/>
            </a:xfrm>
            <a:custGeom>
              <a:avLst/>
              <a:gdLst/>
              <a:ahLst/>
              <a:cxnLst/>
              <a:rect r="r" b="b" t="t" l="l"/>
              <a:pathLst>
                <a:path h="545600" w="8630400">
                  <a:moveTo>
                    <a:pt x="0" y="0"/>
                  </a:moveTo>
                  <a:lnTo>
                    <a:pt x="8630400" y="0"/>
                  </a:lnTo>
                  <a:lnTo>
                    <a:pt x="8630400" y="545600"/>
                  </a:lnTo>
                  <a:lnTo>
                    <a:pt x="0" y="54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217" r="0" b="-2582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630399" cy="50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2"/>
                </a:lnSpc>
              </a:pPr>
              <a:r>
                <a:rPr lang="en-US" b="true" sz="2400">
                  <a:solidFill>
                    <a:srgbClr val="000000"/>
                  </a:solidFill>
                  <a:latin typeface="Titillium Web Bold"/>
                  <a:ea typeface="Titillium Web Bold"/>
                  <a:cs typeface="Titillium Web Bold"/>
                  <a:sym typeface="Titillium Web Bold"/>
                </a:rPr>
                <a:t>@interledger  #OpenPayments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1404" y="8346376"/>
            <a:ext cx="2617451" cy="1969827"/>
            <a:chOff x="0" y="0"/>
            <a:chExt cx="3489935" cy="2626436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3489960" cy="2626487"/>
            </a:xfrm>
            <a:custGeom>
              <a:avLst/>
              <a:gdLst/>
              <a:ahLst/>
              <a:cxnLst/>
              <a:rect r="r" b="b" t="t" l="l"/>
              <a:pathLst>
                <a:path h="2626487" w="3489960">
                  <a:moveTo>
                    <a:pt x="3489960" y="0"/>
                  </a:moveTo>
                  <a:lnTo>
                    <a:pt x="0" y="0"/>
                  </a:lnTo>
                  <a:lnTo>
                    <a:pt x="0" y="2626487"/>
                  </a:lnTo>
                  <a:lnTo>
                    <a:pt x="3489960" y="2626487"/>
                  </a:lnTo>
                  <a:lnTo>
                    <a:pt x="348996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flipV="true">
            <a:off x="913659" y="2547948"/>
            <a:ext cx="10155153" cy="0"/>
          </a:xfrm>
          <a:prstGeom prst="line">
            <a:avLst/>
          </a:prstGeom>
          <a:ln cap="rnd" w="9525">
            <a:solidFill>
              <a:srgbClr val="00E29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11520973" y="2959275"/>
            <a:ext cx="5676452" cy="5590650"/>
            <a:chOff x="0" y="0"/>
            <a:chExt cx="7568603" cy="7454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8565" cy="7454136"/>
            </a:xfrm>
            <a:custGeom>
              <a:avLst/>
              <a:gdLst/>
              <a:ahLst/>
              <a:cxnLst/>
              <a:rect r="r" b="b" t="t" l="l"/>
              <a:pathLst>
                <a:path h="7454136" w="7568565">
                  <a:moveTo>
                    <a:pt x="0" y="3727068"/>
                  </a:moveTo>
                  <a:cubicBezTo>
                    <a:pt x="0" y="1668653"/>
                    <a:pt x="1694307" y="0"/>
                    <a:pt x="3784346" y="0"/>
                  </a:cubicBezTo>
                  <a:cubicBezTo>
                    <a:pt x="5874385" y="0"/>
                    <a:pt x="7568565" y="1668653"/>
                    <a:pt x="7568565" y="3727068"/>
                  </a:cubicBezTo>
                  <a:cubicBezTo>
                    <a:pt x="7568565" y="5785484"/>
                    <a:pt x="5874258" y="7454136"/>
                    <a:pt x="3784346" y="7454136"/>
                  </a:cubicBezTo>
                  <a:cubicBezTo>
                    <a:pt x="1694434" y="7454136"/>
                    <a:pt x="0" y="5785484"/>
                    <a:pt x="0" y="3727068"/>
                  </a:cubicBezTo>
                  <a:close/>
                </a:path>
              </a:pathLst>
            </a:custGeom>
            <a:blipFill>
              <a:blip r:embed="rId7"/>
              <a:stretch>
                <a:fillRect l="-15658" t="0" r="-15658" b="0"/>
              </a:stretch>
            </a:blipFill>
            <a:ln w="19050" cap="sq">
              <a:solidFill>
                <a:srgbClr val="59595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7568603" cy="746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3513" y="406489"/>
            <a:ext cx="2743200" cy="661597"/>
            <a:chOff x="0" y="0"/>
            <a:chExt cx="3657600" cy="8821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882142"/>
            </a:xfrm>
            <a:custGeom>
              <a:avLst/>
              <a:gdLst/>
              <a:ahLst/>
              <a:cxnLst/>
              <a:rect r="r" b="b" t="t" l="l"/>
              <a:pathLst>
                <a:path h="88214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82142"/>
                  </a:lnTo>
                  <a:lnTo>
                    <a:pt x="0" y="8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92" b="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817886" y="9809312"/>
            <a:ext cx="1650302" cy="34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799">
                <a:solidFill>
                  <a:srgbClr val="000000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#ILPHacks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3650" y="1337635"/>
            <a:ext cx="9203703" cy="102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4"/>
              </a:lnSpc>
            </a:pPr>
            <a:r>
              <a:rPr lang="en-US" b="true" sz="7800">
                <a:solidFill>
                  <a:srgbClr val="00E296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Meet the team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3659" y="2733741"/>
            <a:ext cx="10155153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313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DataFlow</a:t>
            </a:r>
          </a:p>
          <a:p>
            <a:pPr algn="l">
              <a:lnSpc>
                <a:spcPts val="3766"/>
              </a:lnSpc>
            </a:pPr>
            <a:r>
              <a:rPr lang="en-US" sz="313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 marL="1150334" indent="-575167" lvl="1">
              <a:lnSpc>
                <a:spcPts val="4304"/>
              </a:lnSpc>
              <a:buFont typeface="Arial"/>
              <a:buChar char="•"/>
            </a:pPr>
            <a:r>
              <a:rPr lang="en-US" b="true" sz="3587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Omphile Ramotsho</a:t>
            </a:r>
          </a:p>
          <a:p>
            <a:pPr algn="l" marL="1150334" indent="-575167" lvl="1">
              <a:lnSpc>
                <a:spcPts val="4304"/>
              </a:lnSpc>
              <a:buFont typeface="Arial"/>
              <a:buChar char="•"/>
            </a:pPr>
            <a:r>
              <a:rPr lang="en-US" b="true" sz="3587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Esona Ratazayo</a:t>
            </a:r>
          </a:p>
          <a:p>
            <a:pPr algn="l" marL="1150334" indent="-575167" lvl="1">
              <a:lnSpc>
                <a:spcPts val="4304"/>
              </a:lnSpc>
              <a:buFont typeface="Arial"/>
              <a:buChar char="•"/>
            </a:pPr>
            <a:r>
              <a:rPr lang="en-US" b="true" sz="3587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Khanya Khosana</a:t>
            </a:r>
          </a:p>
          <a:p>
            <a:pPr algn="l" marL="1149879" indent="-574939" lvl="1">
              <a:lnSpc>
                <a:spcPts val="4304"/>
              </a:lnSpc>
              <a:buFont typeface="Arial"/>
              <a:buChar char="•"/>
            </a:pPr>
            <a:r>
              <a:rPr lang="en-US" b="true" sz="3587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Buhle Mntuyedwa</a:t>
            </a:r>
          </a:p>
          <a:p>
            <a:pPr algn="l" marL="1149879" indent="-574939" lvl="1">
              <a:lnSpc>
                <a:spcPts val="4304"/>
              </a:lnSpc>
              <a:buFont typeface="Arial"/>
              <a:buChar char="•"/>
            </a:pPr>
            <a:r>
              <a:rPr lang="en-US" b="true" sz="3587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Sinazo Mabiza</a:t>
            </a:r>
          </a:p>
          <a:p>
            <a:pPr algn="l" marL="1149879" indent="-574939" lvl="1">
              <a:lnSpc>
                <a:spcPts val="4304"/>
              </a:lnSpc>
              <a:buFont typeface="Arial"/>
              <a:buChar char="•"/>
            </a:pPr>
            <a:r>
              <a:rPr lang="en-US" b="true" sz="3587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Qhamkile Mkhize</a:t>
            </a:r>
          </a:p>
          <a:p>
            <a:pPr algn="l" marL="1149879" indent="-574939" lvl="1">
              <a:lnSpc>
                <a:spcPts val="4304"/>
              </a:lnSpc>
              <a:buFont typeface="Arial"/>
              <a:buChar char="•"/>
            </a:pPr>
            <a:r>
              <a:rPr lang="en-US" b="true" sz="3587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Elam Mandulo</a:t>
            </a:r>
          </a:p>
          <a:p>
            <a:pPr algn="l">
              <a:lnSpc>
                <a:spcPts val="4304"/>
              </a:lnSpc>
            </a:pPr>
            <a:r>
              <a:rPr lang="en-US" sz="3587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802" y="-320712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4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65454" y="377752"/>
            <a:ext cx="2812656" cy="686505"/>
            <a:chOff x="0" y="0"/>
            <a:chExt cx="3750208" cy="915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0183" cy="915289"/>
            </a:xfrm>
            <a:custGeom>
              <a:avLst/>
              <a:gdLst/>
              <a:ahLst/>
              <a:cxnLst/>
              <a:rect r="r" b="b" t="t" l="l"/>
              <a:pathLst>
                <a:path h="915289" w="3750183">
                  <a:moveTo>
                    <a:pt x="0" y="0"/>
                  </a:moveTo>
                  <a:lnTo>
                    <a:pt x="3750183" y="0"/>
                  </a:lnTo>
                  <a:lnTo>
                    <a:pt x="3750183" y="915289"/>
                  </a:lnTo>
                  <a:lnTo>
                    <a:pt x="0" y="915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21383"/>
            <a:ext cx="18288000" cy="706203"/>
            <a:chOff x="0" y="0"/>
            <a:chExt cx="24384000" cy="941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41578"/>
            </a:xfrm>
            <a:custGeom>
              <a:avLst/>
              <a:gdLst/>
              <a:ahLst/>
              <a:cxnLst/>
              <a:rect r="r" b="b" t="t" l="l"/>
              <a:pathLst>
                <a:path h="9415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41578"/>
                  </a:lnTo>
                  <a:lnTo>
                    <a:pt x="0" y="941578"/>
                  </a:lnTo>
                  <a:close/>
                </a:path>
              </a:pathLst>
            </a:custGeom>
            <a:solidFill>
              <a:srgbClr val="EEFF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42716" y="9774879"/>
            <a:ext cx="6472799" cy="409204"/>
            <a:chOff x="0" y="0"/>
            <a:chExt cx="8630399" cy="5456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0400" cy="545600"/>
            </a:xfrm>
            <a:custGeom>
              <a:avLst/>
              <a:gdLst/>
              <a:ahLst/>
              <a:cxnLst/>
              <a:rect r="r" b="b" t="t" l="l"/>
              <a:pathLst>
                <a:path h="545600" w="8630400">
                  <a:moveTo>
                    <a:pt x="0" y="0"/>
                  </a:moveTo>
                  <a:lnTo>
                    <a:pt x="8630400" y="0"/>
                  </a:lnTo>
                  <a:lnTo>
                    <a:pt x="8630400" y="545600"/>
                  </a:lnTo>
                  <a:lnTo>
                    <a:pt x="0" y="54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217" r="0" b="-2582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630399" cy="50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2"/>
                </a:lnSpc>
              </a:pPr>
              <a:r>
                <a:rPr lang="en-US" b="true" sz="2400">
                  <a:solidFill>
                    <a:srgbClr val="000000"/>
                  </a:solidFill>
                  <a:latin typeface="Titillium Web Bold"/>
                  <a:ea typeface="Titillium Web Bold"/>
                  <a:cs typeface="Titillium Web Bold"/>
                  <a:sym typeface="Titillium Web Bold"/>
                </a:rPr>
                <a:t>@interledger  #OpenPayments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17886" y="9809312"/>
            <a:ext cx="1650302" cy="34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799">
                <a:solidFill>
                  <a:srgbClr val="000000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#ILPHacks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1404" y="8346376"/>
            <a:ext cx="2617451" cy="1969827"/>
            <a:chOff x="0" y="0"/>
            <a:chExt cx="3489935" cy="2626436"/>
          </a:xfrm>
        </p:grpSpPr>
        <p:sp>
          <p:nvSpPr>
            <p:cNvPr name="Freeform 13" id="13"/>
            <p:cNvSpPr/>
            <p:nvPr/>
          </p:nvSpPr>
          <p:spPr>
            <a:xfrm flipH="true" flipV="false" rot="0">
              <a:off x="0" y="0"/>
              <a:ext cx="3489960" cy="2626487"/>
            </a:xfrm>
            <a:custGeom>
              <a:avLst/>
              <a:gdLst/>
              <a:ahLst/>
              <a:cxnLst/>
              <a:rect r="r" b="b" t="t" l="l"/>
              <a:pathLst>
                <a:path h="2626487" w="3489960">
                  <a:moveTo>
                    <a:pt x="3489960" y="0"/>
                  </a:moveTo>
                  <a:lnTo>
                    <a:pt x="0" y="0"/>
                  </a:lnTo>
                  <a:lnTo>
                    <a:pt x="0" y="2626487"/>
                  </a:lnTo>
                  <a:lnTo>
                    <a:pt x="3489960" y="2626487"/>
                  </a:lnTo>
                  <a:lnTo>
                    <a:pt x="348996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0178" y="1587492"/>
            <a:ext cx="8284488" cy="109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4"/>
              </a:lnSpc>
            </a:pPr>
            <a:r>
              <a:rPr lang="en-US" b="true" sz="7800">
                <a:solidFill>
                  <a:srgbClr val="00E296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Problem statement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119529"/>
            <a:ext cx="14568352" cy="769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641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 </a:t>
            </a:r>
          </a:p>
          <a:p>
            <a:pPr algn="l">
              <a:lnSpc>
                <a:spcPts val="3530"/>
              </a:lnSpc>
            </a:pPr>
            <a:r>
              <a:rPr lang="en-US" sz="2942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Problem</a:t>
            </a:r>
          </a:p>
          <a:p>
            <a:pPr algn="l">
              <a:lnSpc>
                <a:spcPts val="3530"/>
              </a:lnSpc>
            </a:pPr>
          </a:p>
          <a:p>
            <a:pPr algn="l" marL="635178" indent="-317589" lvl="1">
              <a:lnSpc>
                <a:spcPts val="3530"/>
              </a:lnSpc>
              <a:buFont typeface="Arial"/>
              <a:buChar char="•"/>
            </a:pPr>
            <a:r>
              <a:rPr lang="en-US" b="true" sz="2942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    Prepaid mobile users lose money on unused data because bundles expire.</a:t>
            </a:r>
          </a:p>
          <a:p>
            <a:pPr algn="l">
              <a:lnSpc>
                <a:spcPts val="3530"/>
              </a:lnSpc>
            </a:pPr>
          </a:p>
          <a:p>
            <a:pPr algn="l">
              <a:lnSpc>
                <a:spcPts val="3530"/>
              </a:lnSpc>
            </a:pPr>
            <a:r>
              <a:rPr lang="en-US" sz="2942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Why</a:t>
            </a:r>
          </a:p>
          <a:p>
            <a:pPr algn="l">
              <a:lnSpc>
                <a:spcPts val="3530"/>
              </a:lnSpc>
            </a:pPr>
          </a:p>
          <a:p>
            <a:pPr algn="l" marL="635178" indent="-317589" lvl="1">
              <a:lnSpc>
                <a:spcPts val="3530"/>
              </a:lnSpc>
              <a:buFont typeface="Arial"/>
              <a:buChar char="•"/>
            </a:pPr>
            <a:r>
              <a:rPr lang="en-US" b="true" sz="2942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    </a:t>
            </a:r>
            <a:r>
              <a:rPr lang="en-US" b="true" sz="2942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To stop users from paying for data they never consume.</a:t>
            </a:r>
          </a:p>
          <a:p>
            <a:pPr algn="l">
              <a:lnSpc>
                <a:spcPts val="3530"/>
              </a:lnSpc>
            </a:pPr>
          </a:p>
          <a:p>
            <a:pPr algn="l">
              <a:lnSpc>
                <a:spcPts val="3530"/>
              </a:lnSpc>
            </a:pPr>
            <a:r>
              <a:rPr lang="en-US" sz="2942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Aim</a:t>
            </a:r>
          </a:p>
          <a:p>
            <a:pPr algn="l" marL="635178" indent="-317589" lvl="1">
              <a:lnSpc>
                <a:spcPts val="3530"/>
              </a:lnSpc>
              <a:buFont typeface="Arial"/>
              <a:buChar char="•"/>
            </a:pPr>
            <a:r>
              <a:rPr lang="en-US" b="true" sz="2942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     </a:t>
            </a:r>
            <a:r>
              <a:rPr lang="en-US" b="true" sz="2942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To enable pay-as-you-use micropayments via Open Payments, where users are billed in real-time per MB with no expiry.</a:t>
            </a:r>
          </a:p>
          <a:p>
            <a:pPr algn="l">
              <a:lnSpc>
                <a:spcPts val="2396"/>
              </a:lnSpc>
            </a:pPr>
          </a:p>
          <a:p>
            <a:pPr algn="l">
              <a:lnSpc>
                <a:spcPts val="2396"/>
              </a:lnSpc>
            </a:pPr>
          </a:p>
          <a:p>
            <a:pPr algn="l">
              <a:lnSpc>
                <a:spcPts val="2396"/>
              </a:lnSpc>
            </a:pPr>
          </a:p>
          <a:p>
            <a:pPr algn="l">
              <a:lnSpc>
                <a:spcPts val="2396"/>
              </a:lnSpc>
            </a:pPr>
          </a:p>
          <a:p>
            <a:pPr algn="l">
              <a:lnSpc>
                <a:spcPts val="2396"/>
              </a:lnSpc>
            </a:pPr>
          </a:p>
          <a:p>
            <a:pPr algn="l">
              <a:lnSpc>
                <a:spcPts val="2396"/>
              </a:lnSpc>
            </a:pPr>
          </a:p>
          <a:p>
            <a:pPr algn="l">
              <a:lnSpc>
                <a:spcPts val="2396"/>
              </a:lnSpc>
            </a:pPr>
          </a:p>
          <a:p>
            <a:pPr algn="l">
              <a:lnSpc>
                <a:spcPts val="2396"/>
              </a:lnSpc>
            </a:pPr>
          </a:p>
        </p:txBody>
      </p:sp>
      <p:sp>
        <p:nvSpPr>
          <p:cNvPr name="AutoShape 16" id="16"/>
          <p:cNvSpPr/>
          <p:nvPr/>
        </p:nvSpPr>
        <p:spPr>
          <a:xfrm>
            <a:off x="1028708" y="2588227"/>
            <a:ext cx="10931254" cy="19079"/>
          </a:xfrm>
          <a:prstGeom prst="line">
            <a:avLst/>
          </a:prstGeom>
          <a:ln cap="rnd" w="9525">
            <a:solidFill>
              <a:srgbClr val="00E29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523513" y="406489"/>
            <a:ext cx="2743200" cy="661597"/>
            <a:chOff x="0" y="0"/>
            <a:chExt cx="3657600" cy="8821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882142"/>
            </a:xfrm>
            <a:custGeom>
              <a:avLst/>
              <a:gdLst/>
              <a:ahLst/>
              <a:cxnLst/>
              <a:rect r="r" b="b" t="t" l="l"/>
              <a:pathLst>
                <a:path h="88214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82142"/>
                  </a:lnTo>
                  <a:lnTo>
                    <a:pt x="0" y="8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92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4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65454" y="377752"/>
            <a:ext cx="2812656" cy="686505"/>
            <a:chOff x="0" y="0"/>
            <a:chExt cx="3750208" cy="915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0183" cy="915289"/>
            </a:xfrm>
            <a:custGeom>
              <a:avLst/>
              <a:gdLst/>
              <a:ahLst/>
              <a:cxnLst/>
              <a:rect r="r" b="b" t="t" l="l"/>
              <a:pathLst>
                <a:path h="915289" w="3750183">
                  <a:moveTo>
                    <a:pt x="0" y="0"/>
                  </a:moveTo>
                  <a:lnTo>
                    <a:pt x="3750183" y="0"/>
                  </a:lnTo>
                  <a:lnTo>
                    <a:pt x="3750183" y="915289"/>
                  </a:lnTo>
                  <a:lnTo>
                    <a:pt x="0" y="915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21383"/>
            <a:ext cx="18288000" cy="706203"/>
            <a:chOff x="0" y="0"/>
            <a:chExt cx="24384000" cy="941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41578"/>
            </a:xfrm>
            <a:custGeom>
              <a:avLst/>
              <a:gdLst/>
              <a:ahLst/>
              <a:cxnLst/>
              <a:rect r="r" b="b" t="t" l="l"/>
              <a:pathLst>
                <a:path h="9415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41578"/>
                  </a:lnTo>
                  <a:lnTo>
                    <a:pt x="0" y="941578"/>
                  </a:lnTo>
                  <a:close/>
                </a:path>
              </a:pathLst>
            </a:custGeom>
            <a:solidFill>
              <a:srgbClr val="EEFF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42716" y="9774879"/>
            <a:ext cx="6472799" cy="409204"/>
            <a:chOff x="0" y="0"/>
            <a:chExt cx="8630399" cy="5456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0400" cy="545600"/>
            </a:xfrm>
            <a:custGeom>
              <a:avLst/>
              <a:gdLst/>
              <a:ahLst/>
              <a:cxnLst/>
              <a:rect r="r" b="b" t="t" l="l"/>
              <a:pathLst>
                <a:path h="545600" w="8630400">
                  <a:moveTo>
                    <a:pt x="0" y="0"/>
                  </a:moveTo>
                  <a:lnTo>
                    <a:pt x="8630400" y="0"/>
                  </a:lnTo>
                  <a:lnTo>
                    <a:pt x="8630400" y="545600"/>
                  </a:lnTo>
                  <a:lnTo>
                    <a:pt x="0" y="54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217" r="0" b="-2582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630399" cy="50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2"/>
                </a:lnSpc>
              </a:pPr>
              <a:r>
                <a:rPr lang="en-US" b="true" sz="2400">
                  <a:solidFill>
                    <a:srgbClr val="000000"/>
                  </a:solidFill>
                  <a:latin typeface="Titillium Web Bold"/>
                  <a:ea typeface="Titillium Web Bold"/>
                  <a:cs typeface="Titillium Web Bold"/>
                  <a:sym typeface="Titillium Web Bold"/>
                </a:rPr>
                <a:t>@interledger  #OpenPayments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1404" y="8346376"/>
            <a:ext cx="2617451" cy="1969827"/>
            <a:chOff x="0" y="0"/>
            <a:chExt cx="3489935" cy="2626436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3489960" cy="2626487"/>
            </a:xfrm>
            <a:custGeom>
              <a:avLst/>
              <a:gdLst/>
              <a:ahLst/>
              <a:cxnLst/>
              <a:rect r="r" b="b" t="t" l="l"/>
              <a:pathLst>
                <a:path h="2626487" w="3489960">
                  <a:moveTo>
                    <a:pt x="3489960" y="0"/>
                  </a:moveTo>
                  <a:lnTo>
                    <a:pt x="0" y="0"/>
                  </a:lnTo>
                  <a:lnTo>
                    <a:pt x="0" y="2626487"/>
                  </a:lnTo>
                  <a:lnTo>
                    <a:pt x="3489960" y="2626487"/>
                  </a:lnTo>
                  <a:lnTo>
                    <a:pt x="348996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42583" y="1439366"/>
            <a:ext cx="4285219" cy="109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4"/>
              </a:lnSpc>
            </a:pPr>
            <a:r>
              <a:rPr lang="en-US" b="true" sz="7800">
                <a:solidFill>
                  <a:srgbClr val="00E296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Solution</a:t>
            </a:r>
          </a:p>
        </p:txBody>
      </p:sp>
      <p:sp>
        <p:nvSpPr>
          <p:cNvPr name="AutoShape 14" id="14"/>
          <p:cNvSpPr/>
          <p:nvPr/>
        </p:nvSpPr>
        <p:spPr>
          <a:xfrm>
            <a:off x="542583" y="2539313"/>
            <a:ext cx="5371769" cy="0"/>
          </a:xfrm>
          <a:prstGeom prst="line">
            <a:avLst/>
          </a:prstGeom>
          <a:ln cap="rnd" w="9525">
            <a:solidFill>
              <a:srgbClr val="00E29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523513" y="406489"/>
            <a:ext cx="2743200" cy="661597"/>
            <a:chOff x="0" y="0"/>
            <a:chExt cx="3657600" cy="8821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882142"/>
            </a:xfrm>
            <a:custGeom>
              <a:avLst/>
              <a:gdLst/>
              <a:ahLst/>
              <a:cxnLst/>
              <a:rect r="r" b="b" t="t" l="l"/>
              <a:pathLst>
                <a:path h="88214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82142"/>
                  </a:lnTo>
                  <a:lnTo>
                    <a:pt x="0" y="8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92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817886" y="9809312"/>
            <a:ext cx="1650302" cy="34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799">
                <a:solidFill>
                  <a:srgbClr val="000000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#ILPHacks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2583" y="3047219"/>
            <a:ext cx="13213243" cy="550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31" b="true">
                <a:solidFill>
                  <a:srgbClr val="FFFFFF"/>
                </a:solidFill>
                <a:latin typeface="Titillium Web Semi-Bold"/>
                <a:ea typeface="Titillium Web Semi-Bold"/>
                <a:cs typeface="Titillium Web Semi-Bold"/>
                <a:sym typeface="Titillium Web Semi-Bold"/>
              </a:rPr>
              <a:t>Why Unique?</a:t>
            </a:r>
          </a:p>
          <a:p>
            <a:pPr algn="l">
              <a:lnSpc>
                <a:spcPts val="4358"/>
              </a:lnSpc>
            </a:pPr>
          </a:p>
          <a:p>
            <a:pPr algn="l" marL="784137" indent="-392069" lvl="1">
              <a:lnSpc>
                <a:spcPts val="4358"/>
              </a:lnSpc>
              <a:buFont typeface="Arial"/>
              <a:buChar char="•"/>
            </a:pPr>
            <a:r>
              <a:rPr lang="en-US" b="true" sz="3631">
                <a:solidFill>
                  <a:srgbClr val="FFFFFF"/>
                </a:solidFill>
                <a:latin typeface="Titillium Web Semi-Bold"/>
                <a:ea typeface="Titillium Web Semi-Bold"/>
                <a:cs typeface="Titillium Web Semi-Bold"/>
                <a:sym typeface="Titillium Web Semi-Bold"/>
              </a:rPr>
              <a:t>Pay-per-MB</a:t>
            </a:r>
            <a:r>
              <a:rPr lang="en-US" sz="363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– Only pay for what you use.</a:t>
            </a:r>
          </a:p>
          <a:p>
            <a:pPr algn="l">
              <a:lnSpc>
                <a:spcPts val="4358"/>
              </a:lnSpc>
            </a:pPr>
          </a:p>
          <a:p>
            <a:pPr algn="l" marL="784137" indent="-392069" lvl="1">
              <a:lnSpc>
                <a:spcPts val="4358"/>
              </a:lnSpc>
              <a:buFont typeface="Arial"/>
              <a:buChar char="•"/>
            </a:pPr>
            <a:r>
              <a:rPr lang="en-US" b="true" sz="3631">
                <a:solidFill>
                  <a:srgbClr val="FFFFFF"/>
                </a:solidFill>
                <a:latin typeface="Titillium Web Semi-Bold"/>
                <a:ea typeface="Titillium Web Semi-Bold"/>
                <a:cs typeface="Titillium Web Semi-Bold"/>
                <a:sym typeface="Titillium Web Semi-Bold"/>
              </a:rPr>
              <a:t>No expiry</a:t>
            </a:r>
            <a:r>
              <a:rPr lang="en-US" sz="363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– Balance never disappears.</a:t>
            </a:r>
          </a:p>
          <a:p>
            <a:pPr algn="l">
              <a:lnSpc>
                <a:spcPts val="4358"/>
              </a:lnSpc>
            </a:pPr>
          </a:p>
          <a:p>
            <a:pPr algn="l" marL="784137" indent="-392069" lvl="1">
              <a:lnSpc>
                <a:spcPts val="4358"/>
              </a:lnSpc>
              <a:buFont typeface="Arial"/>
              <a:buChar char="•"/>
            </a:pPr>
            <a:r>
              <a:rPr lang="en-US" b="true" sz="3631">
                <a:solidFill>
                  <a:srgbClr val="FFFFFF"/>
                </a:solidFill>
                <a:latin typeface="Titillium Web Semi-Bold"/>
                <a:ea typeface="Titillium Web Semi-Bold"/>
                <a:cs typeface="Titillium Web Semi-Bold"/>
                <a:sym typeface="Titillium Web Semi-Bold"/>
              </a:rPr>
              <a:t>Interledger backbone</a:t>
            </a:r>
            <a:r>
              <a:rPr lang="en-US" sz="363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– Real-time, secure micropayments.</a:t>
            </a:r>
          </a:p>
          <a:p>
            <a:pPr algn="l">
              <a:lnSpc>
                <a:spcPts val="4358"/>
              </a:lnSpc>
            </a:pPr>
          </a:p>
          <a:p>
            <a:pPr algn="l" marL="784137" indent="-392069" lvl="1">
              <a:lnSpc>
                <a:spcPts val="4358"/>
              </a:lnSpc>
              <a:buFont typeface="Arial"/>
              <a:buChar char="•"/>
            </a:pPr>
            <a:r>
              <a:rPr lang="en-US" b="true" sz="3631">
                <a:solidFill>
                  <a:srgbClr val="FFFFFF"/>
                </a:solidFill>
                <a:latin typeface="Titillium Web Semi-Bold"/>
                <a:ea typeface="Titillium Web Semi-Bold"/>
                <a:cs typeface="Titillium Web Semi-Bold"/>
                <a:sym typeface="Titillium Web Semi-Bold"/>
              </a:rPr>
              <a:t>User-first</a:t>
            </a:r>
            <a:r>
              <a:rPr lang="en-US" sz="363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– Transparent pricing + spending limits.</a:t>
            </a:r>
          </a:p>
          <a:p>
            <a:pPr algn="l">
              <a:lnSpc>
                <a:spcPts val="435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516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4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65454" y="377752"/>
            <a:ext cx="2812656" cy="686505"/>
            <a:chOff x="0" y="0"/>
            <a:chExt cx="3750208" cy="915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0183" cy="915289"/>
            </a:xfrm>
            <a:custGeom>
              <a:avLst/>
              <a:gdLst/>
              <a:ahLst/>
              <a:cxnLst/>
              <a:rect r="r" b="b" t="t" l="l"/>
              <a:pathLst>
                <a:path h="915289" w="3750183">
                  <a:moveTo>
                    <a:pt x="0" y="0"/>
                  </a:moveTo>
                  <a:lnTo>
                    <a:pt x="3750183" y="0"/>
                  </a:lnTo>
                  <a:lnTo>
                    <a:pt x="3750183" y="915289"/>
                  </a:lnTo>
                  <a:lnTo>
                    <a:pt x="0" y="915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21383"/>
            <a:ext cx="18288000" cy="706203"/>
            <a:chOff x="0" y="0"/>
            <a:chExt cx="24384000" cy="941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41578"/>
            </a:xfrm>
            <a:custGeom>
              <a:avLst/>
              <a:gdLst/>
              <a:ahLst/>
              <a:cxnLst/>
              <a:rect r="r" b="b" t="t" l="l"/>
              <a:pathLst>
                <a:path h="9415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41578"/>
                  </a:lnTo>
                  <a:lnTo>
                    <a:pt x="0" y="941578"/>
                  </a:lnTo>
                  <a:close/>
                </a:path>
              </a:pathLst>
            </a:custGeom>
            <a:solidFill>
              <a:srgbClr val="EEFF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42716" y="9774879"/>
            <a:ext cx="6472799" cy="409204"/>
            <a:chOff x="0" y="0"/>
            <a:chExt cx="8630399" cy="5456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0400" cy="545600"/>
            </a:xfrm>
            <a:custGeom>
              <a:avLst/>
              <a:gdLst/>
              <a:ahLst/>
              <a:cxnLst/>
              <a:rect r="r" b="b" t="t" l="l"/>
              <a:pathLst>
                <a:path h="545600" w="8630400">
                  <a:moveTo>
                    <a:pt x="0" y="0"/>
                  </a:moveTo>
                  <a:lnTo>
                    <a:pt x="8630400" y="0"/>
                  </a:lnTo>
                  <a:lnTo>
                    <a:pt x="8630400" y="545600"/>
                  </a:lnTo>
                  <a:lnTo>
                    <a:pt x="0" y="54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217" r="0" b="-2582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630399" cy="50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2"/>
                </a:lnSpc>
              </a:pPr>
              <a:r>
                <a:rPr lang="en-US" b="true" sz="2400">
                  <a:solidFill>
                    <a:srgbClr val="000000"/>
                  </a:solidFill>
                  <a:latin typeface="Titillium Web Bold"/>
                  <a:ea typeface="Titillium Web Bold"/>
                  <a:cs typeface="Titillium Web Bold"/>
                  <a:sym typeface="Titillium Web Bold"/>
                </a:rPr>
                <a:t>@interledger  #OpenPayments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1404" y="8346376"/>
            <a:ext cx="2617451" cy="1969827"/>
            <a:chOff x="0" y="0"/>
            <a:chExt cx="3489935" cy="2626436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3489960" cy="2626487"/>
            </a:xfrm>
            <a:custGeom>
              <a:avLst/>
              <a:gdLst/>
              <a:ahLst/>
              <a:cxnLst/>
              <a:rect r="r" b="b" t="t" l="l"/>
              <a:pathLst>
                <a:path h="2626487" w="3489960">
                  <a:moveTo>
                    <a:pt x="3489960" y="0"/>
                  </a:moveTo>
                  <a:lnTo>
                    <a:pt x="0" y="0"/>
                  </a:lnTo>
                  <a:lnTo>
                    <a:pt x="0" y="2626487"/>
                  </a:lnTo>
                  <a:lnTo>
                    <a:pt x="3489960" y="2626487"/>
                  </a:lnTo>
                  <a:lnTo>
                    <a:pt x="348996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3513" y="406489"/>
            <a:ext cx="2743200" cy="661597"/>
            <a:chOff x="0" y="0"/>
            <a:chExt cx="3657600" cy="8821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882142"/>
            </a:xfrm>
            <a:custGeom>
              <a:avLst/>
              <a:gdLst/>
              <a:ahLst/>
              <a:cxnLst/>
              <a:rect r="r" b="b" t="t" l="l"/>
              <a:pathLst>
                <a:path h="88214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82142"/>
                  </a:lnTo>
                  <a:lnTo>
                    <a:pt x="0" y="8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92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016905" y="1068086"/>
            <a:ext cx="13030484" cy="8447402"/>
          </a:xfrm>
          <a:custGeom>
            <a:avLst/>
            <a:gdLst/>
            <a:ahLst/>
            <a:cxnLst/>
            <a:rect r="r" b="b" t="t" l="l"/>
            <a:pathLst>
              <a:path h="8447402" w="13030484">
                <a:moveTo>
                  <a:pt x="0" y="0"/>
                </a:moveTo>
                <a:lnTo>
                  <a:pt x="13030485" y="0"/>
                </a:lnTo>
                <a:lnTo>
                  <a:pt x="13030485" y="8447402"/>
                </a:lnTo>
                <a:lnTo>
                  <a:pt x="0" y="84474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18" r="0" b="-141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17886" y="9809312"/>
            <a:ext cx="1650302" cy="34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799">
                <a:solidFill>
                  <a:srgbClr val="000000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#ILPHacks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93" r="0" b="-79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21383"/>
            <a:ext cx="18288000" cy="706203"/>
            <a:chOff x="0" y="0"/>
            <a:chExt cx="24384000" cy="9416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41578"/>
            </a:xfrm>
            <a:custGeom>
              <a:avLst/>
              <a:gdLst/>
              <a:ahLst/>
              <a:cxnLst/>
              <a:rect r="r" b="b" t="t" l="l"/>
              <a:pathLst>
                <a:path h="9415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41578"/>
                  </a:lnTo>
                  <a:lnTo>
                    <a:pt x="0" y="941578"/>
                  </a:lnTo>
                  <a:close/>
                </a:path>
              </a:pathLst>
            </a:custGeom>
            <a:solidFill>
              <a:srgbClr val="EEFF4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42716" y="9774879"/>
            <a:ext cx="6472799" cy="409204"/>
            <a:chOff x="0" y="0"/>
            <a:chExt cx="8630399" cy="545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30400" cy="545600"/>
            </a:xfrm>
            <a:custGeom>
              <a:avLst/>
              <a:gdLst/>
              <a:ahLst/>
              <a:cxnLst/>
              <a:rect r="r" b="b" t="t" l="l"/>
              <a:pathLst>
                <a:path h="545600" w="8630400">
                  <a:moveTo>
                    <a:pt x="0" y="0"/>
                  </a:moveTo>
                  <a:lnTo>
                    <a:pt x="8630400" y="0"/>
                  </a:lnTo>
                  <a:lnTo>
                    <a:pt x="8630400" y="545600"/>
                  </a:lnTo>
                  <a:lnTo>
                    <a:pt x="0" y="54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217" r="0" b="-258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8630399" cy="50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2"/>
                </a:lnSpc>
              </a:pPr>
              <a:r>
                <a:rPr lang="en-US" b="true" sz="2400">
                  <a:solidFill>
                    <a:srgbClr val="000000"/>
                  </a:solidFill>
                  <a:latin typeface="Titillium Web Bold"/>
                  <a:ea typeface="Titillium Web Bold"/>
                  <a:cs typeface="Titillium Web Bold"/>
                  <a:sym typeface="Titillium Web Bold"/>
                </a:rPr>
                <a:t>@interledger  #OpenPayments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1404" y="8346376"/>
            <a:ext cx="2617451" cy="1969827"/>
            <a:chOff x="0" y="0"/>
            <a:chExt cx="3489935" cy="2626436"/>
          </a:xfrm>
        </p:grpSpPr>
        <p:sp>
          <p:nvSpPr>
            <p:cNvPr name="Freeform 10" id="10"/>
            <p:cNvSpPr/>
            <p:nvPr/>
          </p:nvSpPr>
          <p:spPr>
            <a:xfrm flipH="true" flipV="false" rot="0">
              <a:off x="0" y="0"/>
              <a:ext cx="3489960" cy="2626487"/>
            </a:xfrm>
            <a:custGeom>
              <a:avLst/>
              <a:gdLst/>
              <a:ahLst/>
              <a:cxnLst/>
              <a:rect r="r" b="b" t="t" l="l"/>
              <a:pathLst>
                <a:path h="2626487" w="3489960">
                  <a:moveTo>
                    <a:pt x="3489960" y="0"/>
                  </a:moveTo>
                  <a:lnTo>
                    <a:pt x="0" y="0"/>
                  </a:lnTo>
                  <a:lnTo>
                    <a:pt x="0" y="2626487"/>
                  </a:lnTo>
                  <a:lnTo>
                    <a:pt x="3489960" y="2626487"/>
                  </a:lnTo>
                  <a:lnTo>
                    <a:pt x="348996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817886" y="9809312"/>
            <a:ext cx="1650302" cy="34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799">
                <a:solidFill>
                  <a:srgbClr val="000000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#ILPHacks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7455" y="-102918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4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9116" y="342195"/>
            <a:ext cx="2812656" cy="686505"/>
            <a:chOff x="0" y="0"/>
            <a:chExt cx="3750208" cy="915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0183" cy="915289"/>
            </a:xfrm>
            <a:custGeom>
              <a:avLst/>
              <a:gdLst/>
              <a:ahLst/>
              <a:cxnLst/>
              <a:rect r="r" b="b" t="t" l="l"/>
              <a:pathLst>
                <a:path h="915289" w="3750183">
                  <a:moveTo>
                    <a:pt x="0" y="0"/>
                  </a:moveTo>
                  <a:lnTo>
                    <a:pt x="3750183" y="0"/>
                  </a:lnTo>
                  <a:lnTo>
                    <a:pt x="3750183" y="915289"/>
                  </a:lnTo>
                  <a:lnTo>
                    <a:pt x="0" y="915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21383"/>
            <a:ext cx="18288000" cy="706203"/>
            <a:chOff x="0" y="0"/>
            <a:chExt cx="24384000" cy="941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41578"/>
            </a:xfrm>
            <a:custGeom>
              <a:avLst/>
              <a:gdLst/>
              <a:ahLst/>
              <a:cxnLst/>
              <a:rect r="r" b="b" t="t" l="l"/>
              <a:pathLst>
                <a:path h="9415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41578"/>
                  </a:lnTo>
                  <a:lnTo>
                    <a:pt x="0" y="941578"/>
                  </a:lnTo>
                  <a:close/>
                </a:path>
              </a:pathLst>
            </a:custGeom>
            <a:solidFill>
              <a:srgbClr val="EEFF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42716" y="9774879"/>
            <a:ext cx="6472799" cy="409204"/>
            <a:chOff x="0" y="0"/>
            <a:chExt cx="8630399" cy="5456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0400" cy="545600"/>
            </a:xfrm>
            <a:custGeom>
              <a:avLst/>
              <a:gdLst/>
              <a:ahLst/>
              <a:cxnLst/>
              <a:rect r="r" b="b" t="t" l="l"/>
              <a:pathLst>
                <a:path h="545600" w="8630400">
                  <a:moveTo>
                    <a:pt x="0" y="0"/>
                  </a:moveTo>
                  <a:lnTo>
                    <a:pt x="8630400" y="0"/>
                  </a:lnTo>
                  <a:lnTo>
                    <a:pt x="8630400" y="545600"/>
                  </a:lnTo>
                  <a:lnTo>
                    <a:pt x="0" y="54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217" r="0" b="-2582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630399" cy="50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2"/>
                </a:lnSpc>
              </a:pPr>
              <a:r>
                <a:rPr lang="en-US" b="true" sz="2400">
                  <a:solidFill>
                    <a:srgbClr val="000000"/>
                  </a:solidFill>
                  <a:latin typeface="Titillium Web Bold"/>
                  <a:ea typeface="Titillium Web Bold"/>
                  <a:cs typeface="Titillium Web Bold"/>
                  <a:sym typeface="Titillium Web Bold"/>
                </a:rPr>
                <a:t>@interledger  #OpenPayments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17886" y="9809312"/>
            <a:ext cx="1650302" cy="34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799">
                <a:solidFill>
                  <a:srgbClr val="000000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#ILPHacks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1404" y="8346376"/>
            <a:ext cx="2617451" cy="1969827"/>
            <a:chOff x="0" y="0"/>
            <a:chExt cx="3489935" cy="2626436"/>
          </a:xfrm>
        </p:grpSpPr>
        <p:sp>
          <p:nvSpPr>
            <p:cNvPr name="Freeform 13" id="13"/>
            <p:cNvSpPr/>
            <p:nvPr/>
          </p:nvSpPr>
          <p:spPr>
            <a:xfrm flipH="true" flipV="false" rot="0">
              <a:off x="0" y="0"/>
              <a:ext cx="3489960" cy="2626487"/>
            </a:xfrm>
            <a:custGeom>
              <a:avLst/>
              <a:gdLst/>
              <a:ahLst/>
              <a:cxnLst/>
              <a:rect r="r" b="b" t="t" l="l"/>
              <a:pathLst>
                <a:path h="2626487" w="3489960">
                  <a:moveTo>
                    <a:pt x="3489960" y="0"/>
                  </a:moveTo>
                  <a:lnTo>
                    <a:pt x="0" y="0"/>
                  </a:lnTo>
                  <a:lnTo>
                    <a:pt x="0" y="2626487"/>
                  </a:lnTo>
                  <a:lnTo>
                    <a:pt x="3489960" y="2626487"/>
                  </a:lnTo>
                  <a:lnTo>
                    <a:pt x="348996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11630" y="1397713"/>
            <a:ext cx="12578715" cy="109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4"/>
              </a:lnSpc>
            </a:pPr>
            <a:r>
              <a:rPr lang="en-US" b="true" sz="7800">
                <a:solidFill>
                  <a:srgbClr val="00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Feasibility &amp; Business Engine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281465"/>
            <a:ext cx="15227430" cy="375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327" indent="-381663" lvl="1">
              <a:lnSpc>
                <a:spcPts val="4242"/>
              </a:lnSpc>
              <a:buFont typeface="Arial"/>
              <a:buChar char="•"/>
            </a:pPr>
            <a:r>
              <a:rPr lang="en-US" b="true" sz="3535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 Micropayments – Interledger makes per-MB billing viable.</a:t>
            </a:r>
          </a:p>
          <a:p>
            <a:pPr algn="l">
              <a:lnSpc>
                <a:spcPts val="4242"/>
              </a:lnSpc>
            </a:pPr>
          </a:p>
          <a:p>
            <a:pPr algn="l" marL="763327" indent="-381663" lvl="1">
              <a:lnSpc>
                <a:spcPts val="4242"/>
              </a:lnSpc>
              <a:buFont typeface="Arial"/>
              <a:buChar char="•"/>
            </a:pPr>
            <a:r>
              <a:rPr lang="en-US" b="true" sz="3535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0.5% sustainability fee – Built-in protocol margin funds operations.</a:t>
            </a:r>
          </a:p>
          <a:p>
            <a:pPr algn="l">
              <a:lnSpc>
                <a:spcPts val="4242"/>
              </a:lnSpc>
            </a:pPr>
          </a:p>
          <a:p>
            <a:pPr algn="l" marL="763327" indent="-381663" lvl="1">
              <a:lnSpc>
                <a:spcPts val="4242"/>
              </a:lnSpc>
              <a:buFont typeface="Arial"/>
              <a:buChar char="•"/>
            </a:pPr>
            <a:r>
              <a:rPr lang="en-US" b="true" sz="3535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B2B white-label licensing – Telecoms pay to access new, price-sensitive markets.</a:t>
            </a:r>
          </a:p>
          <a:p>
            <a:pPr algn="l">
              <a:lnSpc>
                <a:spcPts val="4242"/>
              </a:lnSpc>
            </a:pPr>
          </a:p>
        </p:txBody>
      </p:sp>
      <p:sp>
        <p:nvSpPr>
          <p:cNvPr name="AutoShape 16" id="16"/>
          <p:cNvSpPr/>
          <p:nvPr/>
        </p:nvSpPr>
        <p:spPr>
          <a:xfrm>
            <a:off x="1011638" y="2674701"/>
            <a:ext cx="10931254" cy="19079"/>
          </a:xfrm>
          <a:prstGeom prst="line">
            <a:avLst/>
          </a:prstGeom>
          <a:ln cap="rnd" w="9525">
            <a:solidFill>
              <a:srgbClr val="EEFF4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523513" y="406489"/>
            <a:ext cx="2743200" cy="661597"/>
            <a:chOff x="0" y="0"/>
            <a:chExt cx="3657600" cy="8821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882142"/>
            </a:xfrm>
            <a:custGeom>
              <a:avLst/>
              <a:gdLst/>
              <a:ahLst/>
              <a:cxnLst/>
              <a:rect r="r" b="b" t="t" l="l"/>
              <a:pathLst>
                <a:path h="88214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82142"/>
                  </a:lnTo>
                  <a:lnTo>
                    <a:pt x="0" y="8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92" b="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4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65454" y="377752"/>
            <a:ext cx="2812656" cy="686505"/>
            <a:chOff x="0" y="0"/>
            <a:chExt cx="3750208" cy="915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0183" cy="915289"/>
            </a:xfrm>
            <a:custGeom>
              <a:avLst/>
              <a:gdLst/>
              <a:ahLst/>
              <a:cxnLst/>
              <a:rect r="r" b="b" t="t" l="l"/>
              <a:pathLst>
                <a:path h="915289" w="3750183">
                  <a:moveTo>
                    <a:pt x="0" y="0"/>
                  </a:moveTo>
                  <a:lnTo>
                    <a:pt x="3750183" y="0"/>
                  </a:lnTo>
                  <a:lnTo>
                    <a:pt x="3750183" y="915289"/>
                  </a:lnTo>
                  <a:lnTo>
                    <a:pt x="0" y="915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21383"/>
            <a:ext cx="18288000" cy="706203"/>
            <a:chOff x="0" y="0"/>
            <a:chExt cx="24384000" cy="941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41578"/>
            </a:xfrm>
            <a:custGeom>
              <a:avLst/>
              <a:gdLst/>
              <a:ahLst/>
              <a:cxnLst/>
              <a:rect r="r" b="b" t="t" l="l"/>
              <a:pathLst>
                <a:path h="9415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41578"/>
                  </a:lnTo>
                  <a:lnTo>
                    <a:pt x="0" y="941578"/>
                  </a:lnTo>
                  <a:close/>
                </a:path>
              </a:pathLst>
            </a:custGeom>
            <a:solidFill>
              <a:srgbClr val="EEFF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42716" y="9774879"/>
            <a:ext cx="6472799" cy="409204"/>
            <a:chOff x="0" y="0"/>
            <a:chExt cx="8630399" cy="5456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0400" cy="545600"/>
            </a:xfrm>
            <a:custGeom>
              <a:avLst/>
              <a:gdLst/>
              <a:ahLst/>
              <a:cxnLst/>
              <a:rect r="r" b="b" t="t" l="l"/>
              <a:pathLst>
                <a:path h="545600" w="8630400">
                  <a:moveTo>
                    <a:pt x="0" y="0"/>
                  </a:moveTo>
                  <a:lnTo>
                    <a:pt x="8630400" y="0"/>
                  </a:lnTo>
                  <a:lnTo>
                    <a:pt x="8630400" y="545600"/>
                  </a:lnTo>
                  <a:lnTo>
                    <a:pt x="0" y="54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217" r="0" b="-2582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630399" cy="50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2"/>
                </a:lnSpc>
              </a:pPr>
              <a:r>
                <a:rPr lang="en-US" b="true" sz="2400">
                  <a:solidFill>
                    <a:srgbClr val="000000"/>
                  </a:solidFill>
                  <a:latin typeface="Titillium Web Bold"/>
                  <a:ea typeface="Titillium Web Bold"/>
                  <a:cs typeface="Titillium Web Bold"/>
                  <a:sym typeface="Titillium Web Bold"/>
                </a:rPr>
                <a:t>@interledger  #OpenPayments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17886" y="9809312"/>
            <a:ext cx="1650302" cy="34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799">
                <a:solidFill>
                  <a:srgbClr val="000000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#ILPHacks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0435" y="8536087"/>
            <a:ext cx="2617451" cy="1969827"/>
            <a:chOff x="0" y="0"/>
            <a:chExt cx="3489935" cy="2626436"/>
          </a:xfrm>
        </p:grpSpPr>
        <p:sp>
          <p:nvSpPr>
            <p:cNvPr name="Freeform 13" id="13"/>
            <p:cNvSpPr/>
            <p:nvPr/>
          </p:nvSpPr>
          <p:spPr>
            <a:xfrm flipH="true" flipV="false" rot="0">
              <a:off x="0" y="0"/>
              <a:ext cx="3489960" cy="2626487"/>
            </a:xfrm>
            <a:custGeom>
              <a:avLst/>
              <a:gdLst/>
              <a:ahLst/>
              <a:cxnLst/>
              <a:rect r="r" b="b" t="t" l="l"/>
              <a:pathLst>
                <a:path h="2626487" w="3489960">
                  <a:moveTo>
                    <a:pt x="3489960" y="0"/>
                  </a:moveTo>
                  <a:lnTo>
                    <a:pt x="0" y="0"/>
                  </a:lnTo>
                  <a:lnTo>
                    <a:pt x="0" y="2626487"/>
                  </a:lnTo>
                  <a:lnTo>
                    <a:pt x="3489960" y="2626487"/>
                  </a:lnTo>
                  <a:lnTo>
                    <a:pt x="348996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277678" y="463477"/>
            <a:ext cx="4667845" cy="109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4"/>
              </a:lnSpc>
            </a:pPr>
            <a:r>
              <a:rPr lang="en-US" b="true" sz="7800">
                <a:solidFill>
                  <a:srgbClr val="00E296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3252" y="3263541"/>
            <a:ext cx="16551886" cy="466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8"/>
              </a:lnSpc>
            </a:pPr>
          </a:p>
          <a:p>
            <a:pPr algn="l" marL="719321" indent="-359661" lvl="1">
              <a:lnSpc>
                <a:spcPts val="3998"/>
              </a:lnSpc>
              <a:buFont typeface="Arial"/>
              <a:buChar char="•"/>
            </a:pPr>
            <a:r>
              <a:rPr lang="en-US" b="true" sz="3331">
                <a:solidFill>
                  <a:srgbClr val="FFFFFF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Next step:  Pilot live per-MB billing with one local ISP and a closed user group.</a:t>
            </a:r>
          </a:p>
          <a:p>
            <a:pPr algn="l">
              <a:lnSpc>
                <a:spcPts val="3998"/>
              </a:lnSpc>
            </a:pPr>
          </a:p>
          <a:p>
            <a:pPr algn="l" marL="762500" indent="-381250" lvl="1">
              <a:lnSpc>
                <a:spcPts val="4238"/>
              </a:lnSpc>
              <a:buFont typeface="Arial"/>
              <a:buChar char="•"/>
            </a:pPr>
            <a:r>
              <a:rPr lang="en-US" b="true" sz="3531">
                <a:solidFill>
                  <a:srgbClr val="FFFFFF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Vision:  Replace expired data bundles with a fair, pay-per-use utility.</a:t>
            </a:r>
          </a:p>
          <a:p>
            <a:pPr algn="l">
              <a:lnSpc>
                <a:spcPts val="3998"/>
              </a:lnSpc>
            </a:pPr>
          </a:p>
          <a:p>
            <a:pPr algn="l" marL="719321" indent="-359661" lvl="1">
              <a:lnSpc>
                <a:spcPts val="3998"/>
              </a:lnSpc>
              <a:buFont typeface="Arial"/>
              <a:buChar char="•"/>
            </a:pPr>
            <a:r>
              <a:rPr lang="en-US" b="true" sz="3331">
                <a:solidFill>
                  <a:srgbClr val="FFFFFF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Impact: Internet access that's affordable, transparent, and wastes nothing.</a:t>
            </a:r>
          </a:p>
          <a:p>
            <a:pPr algn="l">
              <a:lnSpc>
                <a:spcPts val="3998"/>
              </a:lnSpc>
            </a:pPr>
          </a:p>
          <a:p>
            <a:pPr algn="l">
              <a:lnSpc>
                <a:spcPts val="3998"/>
              </a:lnSpc>
            </a:pPr>
          </a:p>
          <a:p>
            <a:pPr algn="just">
              <a:lnSpc>
                <a:spcPts val="4872"/>
              </a:lnSpc>
            </a:pPr>
            <a:r>
              <a:rPr lang="en-US" sz="406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103252" y="1458776"/>
            <a:ext cx="10931254" cy="19079"/>
          </a:xfrm>
          <a:prstGeom prst="line">
            <a:avLst/>
          </a:prstGeom>
          <a:ln cap="rnd" w="9525">
            <a:solidFill>
              <a:srgbClr val="00E29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523513" y="406489"/>
            <a:ext cx="2743200" cy="661597"/>
            <a:chOff x="0" y="0"/>
            <a:chExt cx="3657600" cy="8821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882142"/>
            </a:xfrm>
            <a:custGeom>
              <a:avLst/>
              <a:gdLst/>
              <a:ahLst/>
              <a:cxnLst/>
              <a:rect r="r" b="b" t="t" l="l"/>
              <a:pathLst>
                <a:path h="88214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82142"/>
                  </a:lnTo>
                  <a:lnTo>
                    <a:pt x="0" y="8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92" b="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74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65454" y="377752"/>
            <a:ext cx="2812656" cy="686505"/>
            <a:chOff x="0" y="0"/>
            <a:chExt cx="3750208" cy="915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0183" cy="915289"/>
            </a:xfrm>
            <a:custGeom>
              <a:avLst/>
              <a:gdLst/>
              <a:ahLst/>
              <a:cxnLst/>
              <a:rect r="r" b="b" t="t" l="l"/>
              <a:pathLst>
                <a:path h="915289" w="3750183">
                  <a:moveTo>
                    <a:pt x="0" y="0"/>
                  </a:moveTo>
                  <a:lnTo>
                    <a:pt x="3750183" y="0"/>
                  </a:lnTo>
                  <a:lnTo>
                    <a:pt x="3750183" y="915289"/>
                  </a:lnTo>
                  <a:lnTo>
                    <a:pt x="0" y="915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621383"/>
            <a:ext cx="18288000" cy="706203"/>
            <a:chOff x="0" y="0"/>
            <a:chExt cx="24384000" cy="941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41578"/>
            </a:xfrm>
            <a:custGeom>
              <a:avLst/>
              <a:gdLst/>
              <a:ahLst/>
              <a:cxnLst/>
              <a:rect r="r" b="b" t="t" l="l"/>
              <a:pathLst>
                <a:path h="9415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41578"/>
                  </a:lnTo>
                  <a:lnTo>
                    <a:pt x="0" y="941578"/>
                  </a:lnTo>
                  <a:close/>
                </a:path>
              </a:pathLst>
            </a:custGeom>
            <a:solidFill>
              <a:srgbClr val="EEFF4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42716" y="9774879"/>
            <a:ext cx="6472799" cy="409204"/>
            <a:chOff x="0" y="0"/>
            <a:chExt cx="8630399" cy="5456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0400" cy="545600"/>
            </a:xfrm>
            <a:custGeom>
              <a:avLst/>
              <a:gdLst/>
              <a:ahLst/>
              <a:cxnLst/>
              <a:rect r="r" b="b" t="t" l="l"/>
              <a:pathLst>
                <a:path h="545600" w="8630400">
                  <a:moveTo>
                    <a:pt x="0" y="0"/>
                  </a:moveTo>
                  <a:lnTo>
                    <a:pt x="8630400" y="0"/>
                  </a:lnTo>
                  <a:lnTo>
                    <a:pt x="8630400" y="545600"/>
                  </a:lnTo>
                  <a:lnTo>
                    <a:pt x="0" y="545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217" r="0" b="-2582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630399" cy="50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92"/>
                </a:lnSpc>
              </a:pPr>
              <a:r>
                <a:rPr lang="en-US" b="true" sz="2400">
                  <a:solidFill>
                    <a:srgbClr val="000000"/>
                  </a:solidFill>
                  <a:latin typeface="Titillium Web Bold"/>
                  <a:ea typeface="Titillium Web Bold"/>
                  <a:cs typeface="Titillium Web Bold"/>
                  <a:sym typeface="Titillium Web Bold"/>
                </a:rPr>
                <a:t>@interledger  #OpenPayments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17886" y="9809312"/>
            <a:ext cx="1650302" cy="34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799">
                <a:solidFill>
                  <a:srgbClr val="000000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#ILPHacks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1404" y="8346376"/>
            <a:ext cx="2617451" cy="1969827"/>
            <a:chOff x="0" y="0"/>
            <a:chExt cx="3489935" cy="2626436"/>
          </a:xfrm>
        </p:grpSpPr>
        <p:sp>
          <p:nvSpPr>
            <p:cNvPr name="Freeform 13" id="13"/>
            <p:cNvSpPr/>
            <p:nvPr/>
          </p:nvSpPr>
          <p:spPr>
            <a:xfrm flipH="true" flipV="false" rot="0">
              <a:off x="0" y="0"/>
              <a:ext cx="3489960" cy="2626487"/>
            </a:xfrm>
            <a:custGeom>
              <a:avLst/>
              <a:gdLst/>
              <a:ahLst/>
              <a:cxnLst/>
              <a:rect r="r" b="b" t="t" l="l"/>
              <a:pathLst>
                <a:path h="2626487" w="3489960">
                  <a:moveTo>
                    <a:pt x="3489960" y="0"/>
                  </a:moveTo>
                  <a:lnTo>
                    <a:pt x="0" y="0"/>
                  </a:lnTo>
                  <a:lnTo>
                    <a:pt x="0" y="2626487"/>
                  </a:lnTo>
                  <a:lnTo>
                    <a:pt x="3489960" y="2626487"/>
                  </a:lnTo>
                  <a:lnTo>
                    <a:pt x="348996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55624" y="4649957"/>
            <a:ext cx="16338147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Thank you.</a:t>
            </a: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#UWC #UCT #ILP # DataFlow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3513" y="406489"/>
            <a:ext cx="2743200" cy="661597"/>
            <a:chOff x="0" y="0"/>
            <a:chExt cx="3657600" cy="8821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882142"/>
            </a:xfrm>
            <a:custGeom>
              <a:avLst/>
              <a:gdLst/>
              <a:ahLst/>
              <a:cxnLst/>
              <a:rect r="r" b="b" t="t" l="l"/>
              <a:pathLst>
                <a:path h="88214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82142"/>
                  </a:lnTo>
                  <a:lnTo>
                    <a:pt x="0" y="88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92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DAHNtF7ZkfE</dc:identifier>
  <dcterms:modified xsi:type="dcterms:W3CDTF">2011-08-01T06:04:30Z</dcterms:modified>
  <cp:revision>1</cp:revision>
  <dc:title>Template - UCT hackathon 2026.pptx</dc:title>
</cp:coreProperties>
</file>